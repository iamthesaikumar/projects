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09EC-954B-4014-8192-10A1291BFED3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110AB-8913-406B-A214-0A2C552B6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4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110AB-8913-406B-A214-0A2C552B6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6958-A467-2FD7-FE22-567EA011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7C8B2-8D5D-5650-C40F-DFFB16F3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5B59-FF08-9C21-F910-5C87E7D2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28B0F-158F-816F-E288-F410F071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36F2-7ECE-35A0-EBFC-AE1C7BDF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0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C7E9-B848-CB82-18E5-BAFE2657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7A65-EAFE-77CB-0DEB-43EA0B988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C6C3-10D1-FF3F-EE47-9E0BC5C8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8986-D07B-69E6-5B37-9281378C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2EC0-343C-CF2B-F962-062AB284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6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9F07-A672-83F1-5D09-C0141D26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6E72-4F2F-F152-EB22-C927E427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E9359-D00C-17EF-55BC-084E0E33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8021-3BD7-D77E-51B2-B59DF1C6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FD8B-9C27-3672-322A-E7E06EE1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9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7010-913A-2FBE-766B-C59726C5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C4B41-0817-430E-5008-5877AE349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9B97B-2F6F-BC06-0E4D-365A2CAA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37ADC-7F96-18A6-93B9-5F29A6CD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FA58D-650A-0DB4-4B84-455E66B4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F2F23-2CAA-4A68-C3FD-71674B1D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9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EDBD-4226-9EEA-C37F-7B85F2CE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1C14-F14A-BF04-8852-9D77855F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283AE-2B23-6984-C75C-BCC715DF5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DE564-48E7-184A-2F90-BB33F02E3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6D430-381A-F42D-1598-8D3F1CC66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0E657-EE55-D3B7-20EF-BEF97080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7D905-ECA3-79BA-CF35-2A108A0E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7BF66-BE94-3001-EF9D-9E5ACB38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D33-C243-3AF7-99AF-24B7FFCE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477A4-0EC9-657B-94E7-623B48A6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29694-6FFA-E250-0881-C5D8B731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F73DA-F980-2B85-3AF5-891E5230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4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90CE1-D5EA-6241-1414-886548CC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9858A-E59A-81E3-19A6-FD3D785C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459F-7DFB-8EB3-F31F-A3A635BD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D771-1135-025A-5636-37576772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67F7-F465-8D66-C256-553A5428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A4E42-1F0C-13EA-D816-F1FA46779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AE706-40E7-214C-AEDA-A6E2CFD0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F0070-386A-0EEF-D505-7343A66F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E23E0-69A0-8ECD-0469-501946E5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8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8A47-FBB9-F3DC-5711-19758866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6C971-650C-622F-B013-C4F93489D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9536F-BE0A-566F-C210-8977C6208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A85AF-58BF-2C94-B7C8-17355D35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47B1B-0E06-B82E-BB74-D8C7BF64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CA1B-7EAE-0872-EEC5-F20185CB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0FAE-900E-F6CD-8BCD-408E58E2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5A56D-6C49-20B0-2887-B334D072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8DC2-7229-A325-7B08-45476E7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5270-9B68-3484-0520-BA5AB24B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7E35-DFF6-72E4-0820-5F794F0A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40FE9-BB7A-7B31-190D-55E22FBF3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3E352-C64A-E898-2B12-F2DF0F7B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430D-3003-B2C8-0FEA-63E62861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671B6-F51F-24D6-F99D-36C06D4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A1596-2321-318F-6713-027F6F7A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1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85E71-BCB3-0363-2C36-3FA76117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504C9-3278-5581-1258-7A1A75480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8595-D094-A6EC-A701-A42AF0767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FCC28-89B6-4FEA-93B4-85003FA670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98AB-7044-F6EE-5A45-D75CB669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6C463-BE7E-2262-D822-8585E3D2E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18.119.137.91:3000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674113923535.dkr.ecr.us-east-2.amazonaws.com/sai:latest" TargetMode="External"/><Relationship Id="rId2" Type="http://schemas.openxmlformats.org/officeDocument/2006/relationships/hyperlink" Target="http://674113923535.dkr.ecr.us-east-2.amazonaws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4C0F-8519-A063-3087-CDD4A886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05CB9"/>
                </a:solidFill>
              </a:defRPr>
            </a:pPr>
            <a:r>
              <a:t>Sai Packers &amp; Movers</a:t>
            </a:r>
          </a:p>
          <a:p>
            <a:pPr algn="ctr">
              <a:defRPr sz="2000"/>
            </a:pPr>
            <a:r>
              <a:t>End-to-End Docker Deployment on AWS EC2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7A99-4F71-92F2-FF29-226D54A22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427309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9051EE-159C-6610-B4EF-FC1BEB029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29059"/>
              </p:ext>
            </p:extLst>
          </p:nvPr>
        </p:nvGraphicFramePr>
        <p:xfrm>
          <a:off x="2210938" y="1395307"/>
          <a:ext cx="7560860" cy="396503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453008">
                  <a:extLst>
                    <a:ext uri="{9D8B030D-6E8A-4147-A177-3AD203B41FA5}">
                      <a16:colId xmlns:a16="http://schemas.microsoft.com/office/drawing/2014/main" val="390644640"/>
                    </a:ext>
                  </a:extLst>
                </a:gridCol>
                <a:gridCol w="6107852">
                  <a:extLst>
                    <a:ext uri="{9D8B030D-6E8A-4147-A177-3AD203B41FA5}">
                      <a16:colId xmlns:a16="http://schemas.microsoft.com/office/drawing/2014/main" val="3024950775"/>
                    </a:ext>
                  </a:extLst>
                </a:gridCol>
              </a:tblGrid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Part</a:t>
                      </a: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33391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sudo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Runs the command with administrator (root) privileges. Installing software requires admin permissions.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59996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dnf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manager used by Amazon Linux 2023 to install, update, and remove software.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75635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install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Tells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dnf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 a package.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docker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name to install.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7156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-y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Automatically answers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installation prompts.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9635B-98E6-5C07-BC40-C9DBC78A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51" b="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0A163-8A0B-4461-F14E-980C49BF2B78}"/>
              </a:ext>
            </a:extLst>
          </p:cNvPr>
          <p:cNvSpPr txBox="1"/>
          <p:nvPr/>
        </p:nvSpPr>
        <p:spPr>
          <a:xfrm>
            <a:off x="8115296" y="2334618"/>
            <a:ext cx="2942813" cy="1739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Step:1 </a:t>
            </a:r>
            <a:r>
              <a:rPr lang="en-US" sz="1400" dirty="0"/>
              <a:t>Created EC2 installed Git and verified the </a:t>
            </a:r>
            <a:r>
              <a:rPr lang="en-US" sz="1400" dirty="0" err="1"/>
              <a:t>verison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</a:t>
            </a:r>
            <a:r>
              <a:rPr lang="en-US" sz="1400" b="1" dirty="0" err="1">
                <a:effectLst/>
              </a:rPr>
              <a:t>sudo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git –y</a:t>
            </a:r>
            <a:br>
              <a:rPr lang="en-US" sz="1400" b="1" dirty="0"/>
            </a:br>
            <a:r>
              <a:rPr lang="en-US" sz="1400" b="1" dirty="0">
                <a:effectLst/>
              </a:rPr>
              <a:t>                     </a:t>
            </a:r>
            <a:br>
              <a:rPr lang="en-US" sz="1400" b="1" dirty="0">
                <a:effectLst/>
              </a:rPr>
            </a:br>
            <a:r>
              <a:rPr lang="en-US" sz="1400" b="1" dirty="0">
                <a:effectLst/>
              </a:rPr>
              <a:t>       </a:t>
            </a:r>
            <a:r>
              <a:rPr lang="en-US" sz="1400" dirty="0"/>
              <a:t>To check git version</a:t>
            </a:r>
            <a:br>
              <a:rPr lang="en-US" sz="1400" dirty="0"/>
            </a:br>
            <a:r>
              <a:rPr lang="en-US" sz="1400" dirty="0"/>
              <a:t>                                    </a:t>
            </a:r>
            <a:br>
              <a:rPr lang="en-US" sz="1400" dirty="0"/>
            </a:br>
            <a:r>
              <a:rPr lang="en-US" sz="1400" dirty="0"/>
              <a:t>               </a:t>
            </a:r>
            <a:r>
              <a:rPr lang="en-US" sz="1400" b="1" dirty="0">
                <a:effectLst/>
              </a:rPr>
              <a:t>git --version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779C2-F174-6AC9-8EA5-7ED75C2E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" r="-1" b="-1"/>
          <a:stretch>
            <a:fillRect/>
          </a:stretch>
        </p:blipFill>
        <p:spPr>
          <a:xfrm>
            <a:off x="19" y="431"/>
            <a:ext cx="8352951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BDCAC-195F-1531-4156-AA72E5EBAB23}"/>
              </a:ext>
            </a:extLst>
          </p:cNvPr>
          <p:cNvSpPr txBox="1"/>
          <p:nvPr/>
        </p:nvSpPr>
        <p:spPr>
          <a:xfrm>
            <a:off x="8544734" y="1894594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  Step: 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Install Docker Engine on the EC2 instance so we can build Docker images and run Docker containers.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</a:t>
            </a:r>
            <a:r>
              <a:rPr lang="en-US" sz="1400" b="1" dirty="0"/>
              <a:t>Purpose</a:t>
            </a:r>
            <a:br>
              <a:rPr lang="en-US" sz="1400" dirty="0"/>
            </a:br>
            <a:r>
              <a:rPr lang="en-US" sz="1400" dirty="0"/>
              <a:t>This command installs </a:t>
            </a:r>
            <a:r>
              <a:rPr lang="en-US" sz="1400" b="1" dirty="0"/>
              <a:t>Docker Engine</a:t>
            </a:r>
            <a:r>
              <a:rPr lang="en-US" sz="1400" dirty="0"/>
              <a:t> on the EC2 instance.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</a:t>
            </a:r>
            <a:r>
              <a:rPr lang="en-US" sz="1400" b="1" dirty="0" err="1"/>
              <a:t>sudo</a:t>
            </a:r>
            <a:r>
              <a:rPr lang="en-US" sz="1400" b="1" dirty="0"/>
              <a:t> </a:t>
            </a:r>
            <a:r>
              <a:rPr lang="en-US" sz="1400" b="1" dirty="0" err="1"/>
              <a:t>dnf</a:t>
            </a:r>
            <a:r>
              <a:rPr lang="en-US" sz="1400" b="1" dirty="0"/>
              <a:t> install docker -y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71404-C4FC-AEF8-4A56-299D1CF6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71" y="4238587"/>
            <a:ext cx="10459156" cy="227486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D56884-A414-EC91-344E-E6CDD25AA327}"/>
              </a:ext>
            </a:extLst>
          </p:cNvPr>
          <p:cNvSpPr txBox="1"/>
          <p:nvPr/>
        </p:nvSpPr>
        <p:spPr>
          <a:xfrm>
            <a:off x="2327413" y="344546"/>
            <a:ext cx="7537174" cy="3661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 </a:t>
            </a:r>
            <a:r>
              <a:rPr lang="en-US" sz="1200" b="1" dirty="0"/>
              <a:t>Step: 3</a:t>
            </a:r>
            <a:br>
              <a:rPr lang="en-US" sz="1200" dirty="0"/>
            </a:br>
            <a:r>
              <a:rPr lang="en-US" sz="1200" dirty="0"/>
              <a:t>Starts the Docker service.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Installing Docker doesn't automatically start it. This command launches the Docker service so it can accept Docker commands.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</a:t>
            </a:r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systemctl</a:t>
            </a:r>
            <a:r>
              <a:rPr lang="en-US" sz="1200" dirty="0"/>
              <a:t> start docker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Step: 4</a:t>
            </a:r>
            <a:br>
              <a:rPr lang="en-US" sz="1200" dirty="0"/>
            </a:br>
            <a:r>
              <a:rPr lang="en-US" sz="1200" dirty="0"/>
              <a:t>Without this command, Docker would stop after a reboot and you'd have to start it manually each time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             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systemctl</a:t>
            </a:r>
            <a:r>
              <a:rPr lang="en-US" sz="1200" b="1" dirty="0"/>
              <a:t> enable docker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5</a:t>
            </a:r>
            <a:br>
              <a:rPr lang="en-US" sz="1200" dirty="0"/>
            </a:br>
            <a:r>
              <a:rPr lang="en-US" sz="1200" dirty="0"/>
              <a:t>Add the ec2-user to the Docker group so it can use Docker without typing </a:t>
            </a:r>
            <a:r>
              <a:rPr lang="en-US" sz="1200" dirty="0" err="1"/>
              <a:t>sudo</a:t>
            </a:r>
            <a:r>
              <a:rPr lang="en-US" sz="1200" dirty="0"/>
              <a:t> every time.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usermod</a:t>
            </a:r>
            <a:r>
              <a:rPr lang="en-US" sz="1200" b="1" dirty="0"/>
              <a:t> -</a:t>
            </a:r>
            <a:r>
              <a:rPr lang="en-US" sz="1200" b="1" dirty="0" err="1"/>
              <a:t>aG</a:t>
            </a:r>
            <a:r>
              <a:rPr lang="en-US" sz="1200" b="1" dirty="0"/>
              <a:t> docker ec2-user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6</a:t>
            </a:r>
            <a:br>
              <a:rPr lang="en-US" sz="1200" dirty="0"/>
            </a:br>
            <a:r>
              <a:rPr lang="en-US" sz="1200" dirty="0"/>
              <a:t>After adding the user to the Docker group, your current login session doesn't know about the change yet.</a:t>
            </a:r>
            <a:br>
              <a:rPr lang="en-US" sz="1200" dirty="0"/>
            </a:br>
            <a:r>
              <a:rPr lang="en-US" sz="1200" dirty="0"/>
              <a:t>refreshes your current terminal so the new group membership takes effect immediately.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                       </a:t>
            </a:r>
            <a:r>
              <a:rPr lang="en-US" sz="1200" b="1" dirty="0" err="1"/>
              <a:t>newgrp</a:t>
            </a:r>
            <a:r>
              <a:rPr lang="en-US" sz="1200" b="1" dirty="0"/>
              <a:t> docker</a:t>
            </a:r>
            <a:br>
              <a:rPr lang="en-US" sz="1200" dirty="0"/>
            </a:br>
            <a:r>
              <a:rPr lang="en-US" sz="1200" dirty="0"/>
              <a:t>Otherwise, you would need to:</a:t>
            </a:r>
            <a:br>
              <a:rPr lang="en-US" sz="1200" dirty="0"/>
            </a:br>
            <a:r>
              <a:rPr lang="en-US" sz="1200" dirty="0"/>
              <a:t>Disconnect from the EC2 instance.</a:t>
            </a:r>
            <a:br>
              <a:rPr lang="en-US" sz="1200" dirty="0"/>
            </a:br>
            <a:r>
              <a:rPr lang="en-US" sz="1200" dirty="0"/>
              <a:t>Connect again</a:t>
            </a:r>
          </a:p>
        </p:txBody>
      </p:sp>
    </p:spTree>
    <p:extLst>
      <p:ext uri="{BB962C8B-B14F-4D97-AF65-F5344CB8AC3E}">
        <p14:creationId xmlns:p14="http://schemas.microsoft.com/office/powerpoint/2010/main" val="28900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C5AC1-69FA-349C-C509-6F15BB218104}"/>
              </a:ext>
            </a:extLst>
          </p:cNvPr>
          <p:cNvSpPr txBox="1"/>
          <p:nvPr/>
        </p:nvSpPr>
        <p:spPr>
          <a:xfrm>
            <a:off x="1821976" y="984400"/>
            <a:ext cx="7763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7 </a:t>
            </a:r>
            <a:r>
              <a:rPr lang="en-US" sz="1400" dirty="0"/>
              <a:t>Downloaded the application's source code from GitHub to the EC2 instance. </a:t>
            </a:r>
            <a:br>
              <a:rPr lang="en-US" sz="1400" dirty="0"/>
            </a:br>
            <a:r>
              <a:rPr lang="en-US" sz="1400" b="1" dirty="0">
                <a:effectLst/>
              </a:rPr>
              <a:t>git clone </a:t>
            </a:r>
            <a:r>
              <a:rPr lang="en-US" sz="1400" b="1" u="sng" dirty="0">
                <a:effectLst/>
              </a:rPr>
              <a:t>https://github.com/Iamthesaikumar/Source-Code.git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9929E-C86D-33EF-FBC8-5C74F4A3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254"/>
            <a:ext cx="12192000" cy="377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C1013-2B11-D1BD-08B8-2C9606053128}"/>
              </a:ext>
            </a:extLst>
          </p:cNvPr>
          <p:cNvSpPr txBox="1"/>
          <p:nvPr/>
        </p:nvSpPr>
        <p:spPr>
          <a:xfrm>
            <a:off x="1063843" y="640923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8 </a:t>
            </a:r>
            <a:r>
              <a:rPr lang="en-US" sz="1400" dirty="0"/>
              <a:t>The application is developed using Node.js, so I installed the Node.js runtime on the EC2 instance to execute the application. </a:t>
            </a:r>
            <a:br>
              <a:rPr lang="en-US" sz="1400" dirty="0"/>
            </a:br>
            <a:r>
              <a:rPr lang="en-US" sz="1400" b="1" dirty="0">
                <a:effectLst/>
              </a:rPr>
              <a:t>Sudo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Nodejs -y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0688-5D55-EC3A-6F10-0142A5BA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24" y="1510749"/>
            <a:ext cx="8921362" cy="47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5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5B4FE-0EA0-24D9-0C71-CAD9F15F9984}"/>
              </a:ext>
            </a:extLst>
          </p:cNvPr>
          <p:cNvSpPr txBox="1"/>
          <p:nvPr/>
        </p:nvSpPr>
        <p:spPr>
          <a:xfrm>
            <a:off x="375313" y="2807208"/>
            <a:ext cx="3684623" cy="1241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9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effectLst/>
              </a:rPr>
              <a:t>    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install </a:t>
            </a:r>
            <a:r>
              <a:rPr lang="en-US" sz="1400" dirty="0"/>
              <a:t>reads the </a:t>
            </a:r>
            <a:r>
              <a:rPr lang="en-US" sz="1400" dirty="0" err="1">
                <a:effectLst/>
              </a:rPr>
              <a:t>package.json</a:t>
            </a:r>
            <a:r>
              <a:rPr lang="en-US" sz="1400" dirty="0"/>
              <a:t> file and downloads all the required libraries (dependencies) mentioned in it.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                         </a:t>
            </a:r>
            <a:r>
              <a:rPr lang="en-US" sz="1400" b="1" dirty="0" err="1">
                <a:effectLst/>
              </a:rPr>
              <a:t>npm</a:t>
            </a:r>
            <a:r>
              <a:rPr lang="en-US" sz="1400" b="1" dirty="0">
                <a:effectLst/>
              </a:rPr>
              <a:t> install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CA81-6824-D899-70CB-A83460CF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83" y="198783"/>
            <a:ext cx="7391533" cy="63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4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210B9-2055-22F7-7108-8E38EAF9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17" y="2112171"/>
            <a:ext cx="5294716" cy="248851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DE3114B-D73C-768E-1CB6-6560F134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045" y="1973185"/>
            <a:ext cx="5294715" cy="276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C0F92-3A08-F9E5-DF88-849EB4929623}"/>
              </a:ext>
            </a:extLst>
          </p:cNvPr>
          <p:cNvSpPr txBox="1"/>
          <p:nvPr/>
        </p:nvSpPr>
        <p:spPr>
          <a:xfrm>
            <a:off x="1788672" y="456860"/>
            <a:ext cx="7474424" cy="1810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11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After running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start</a:t>
            </a:r>
            <a:r>
              <a:rPr lang="en-US" sz="1400" dirty="0"/>
              <a:t>, if the application starts successfully, we should access it from the browser using the application's IP address and the port number on which it is running.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            </a:t>
            </a:r>
            <a:r>
              <a:rPr lang="en-US" sz="1400" u="sng" dirty="0">
                <a:effectLst/>
                <a:hlinkClick r:id="rId2"/>
              </a:rPr>
              <a:t>http://18.119.137.91:3000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3A597-95F2-944E-040B-7ED1D49D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18" y="2163128"/>
            <a:ext cx="8670158" cy="432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E9E63-A5E6-DD99-ED0A-85BC89BE5872}"/>
              </a:ext>
            </a:extLst>
          </p:cNvPr>
          <p:cNvSpPr txBox="1"/>
          <p:nvPr/>
        </p:nvSpPr>
        <p:spPr>
          <a:xfrm>
            <a:off x="1008184" y="950686"/>
            <a:ext cx="10175630" cy="15675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12 </a:t>
            </a:r>
            <a:r>
              <a:rPr lang="en-US" sz="1400" dirty="0"/>
              <a:t>Check the docker version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/>
              <a:t>docker --version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docker </a:t>
            </a:r>
            <a:r>
              <a:rPr lang="en-US" sz="1400" b="1" dirty="0" err="1">
                <a:effectLst/>
              </a:rPr>
              <a:t>ps</a:t>
            </a:r>
            <a:r>
              <a:rPr lang="en-US" sz="1400" b="1" dirty="0">
                <a:effectLst/>
              </a:rPr>
              <a:t> </a:t>
            </a:r>
            <a:r>
              <a:rPr lang="en-US" sz="1400" dirty="0"/>
              <a:t>is used to view the running Docker containers.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Applies the new Docker group permissions without logging out and logging back in </a:t>
            </a:r>
            <a:r>
              <a:rPr lang="en-US" sz="1400" b="1" dirty="0" err="1">
                <a:effectLst/>
              </a:rPr>
              <a:t>newgrp</a:t>
            </a:r>
            <a:r>
              <a:rPr lang="en-US" sz="1400" b="1" dirty="0">
                <a:effectLst/>
              </a:rPr>
              <a:t> docker</a:t>
            </a:r>
            <a:endParaRPr lang="en-US" sz="14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F0466-9041-8429-24F8-04030B06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4" y="3316431"/>
            <a:ext cx="10515595" cy="20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37A7B-977B-3EB5-6F1F-5840348B3CF2}"/>
              </a:ext>
            </a:extLst>
          </p:cNvPr>
          <p:cNvSpPr txBox="1"/>
          <p:nvPr/>
        </p:nvSpPr>
        <p:spPr>
          <a:xfrm>
            <a:off x="838199" y="557189"/>
            <a:ext cx="10515599" cy="129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13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creates an empty file named: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touch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dockerfile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verify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ls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F7863-7785-13DB-22F3-84351FE2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9" y="2756125"/>
            <a:ext cx="10515599" cy="18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54AA9-72A4-9CAE-46BF-FC0F819665A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14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Save the commands and build the docker file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FROM node:22</a:t>
            </a:r>
            <a:br>
              <a:rPr lang="en-US" sz="1400" b="1" dirty="0"/>
            </a:br>
            <a:r>
              <a:rPr lang="en-US" sz="1400" b="1" dirty="0"/>
              <a:t>WORKDIR /app</a:t>
            </a:r>
            <a:br>
              <a:rPr lang="en-US" sz="1400" b="1" dirty="0"/>
            </a:br>
            <a:r>
              <a:rPr lang="en-US" sz="1400" b="1" dirty="0"/>
              <a:t>COPY . .</a:t>
            </a:r>
            <a:br>
              <a:rPr lang="en-US" sz="1400" b="1" dirty="0"/>
            </a:br>
            <a:r>
              <a:rPr lang="en-US" sz="1400" b="1" dirty="0"/>
              <a:t>RUN </a:t>
            </a:r>
            <a:r>
              <a:rPr lang="en-US" sz="1400" b="1" dirty="0" err="1"/>
              <a:t>npm</a:t>
            </a:r>
            <a:r>
              <a:rPr lang="en-US" sz="1400" b="1" dirty="0"/>
              <a:t> install</a:t>
            </a:r>
            <a:br>
              <a:rPr lang="en-US" sz="1400" b="1" dirty="0"/>
            </a:br>
            <a:r>
              <a:rPr lang="en-US" sz="1400" b="1" dirty="0"/>
              <a:t>EXPOSE 3000</a:t>
            </a:r>
            <a:br>
              <a:rPr lang="en-US" sz="1400" b="1" dirty="0"/>
            </a:br>
            <a:r>
              <a:rPr lang="en-US" sz="1400" b="1" dirty="0"/>
              <a:t>CMD ["</a:t>
            </a:r>
            <a:r>
              <a:rPr lang="en-US" sz="1400" b="1" dirty="0" err="1"/>
              <a:t>npm</a:t>
            </a:r>
            <a:r>
              <a:rPr lang="en-US" sz="1400" b="1" dirty="0"/>
              <a:t>", "start"]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200D2-8A5C-B991-477F-8FC839FB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31404"/>
            <a:ext cx="6922008" cy="50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4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42416-61B2-52D4-EC63-09D7B6A1578A}"/>
              </a:ext>
            </a:extLst>
          </p:cNvPr>
          <p:cNvSpPr txBox="1"/>
          <p:nvPr/>
        </p:nvSpPr>
        <p:spPr>
          <a:xfrm>
            <a:off x="886733" y="2912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15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Build the docker file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 build -t sai-packers:v1.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75F65E-F062-DDFE-BB17-505F4314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1204687"/>
            <a:ext cx="10080171" cy="51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3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AE364-5F7C-CCF8-0598-F29817210D57}"/>
              </a:ext>
            </a:extLst>
          </p:cNvPr>
          <p:cNvSpPr txBox="1"/>
          <p:nvPr/>
        </p:nvSpPr>
        <p:spPr>
          <a:xfrm>
            <a:off x="2605314" y="79142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16 </a:t>
            </a:r>
            <a:r>
              <a:rPr lang="en-US" sz="1400" dirty="0"/>
              <a:t>Verify the image </a:t>
            </a:r>
            <a:r>
              <a:rPr lang="en-US" sz="1400" b="1" dirty="0">
                <a:effectLst/>
              </a:rPr>
              <a:t>docker images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8E987-EC50-1F85-0A91-EF075ADE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89" y="1609725"/>
            <a:ext cx="9772650" cy="28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83148-5395-033E-5480-3F76674E02DD}"/>
              </a:ext>
            </a:extLst>
          </p:cNvPr>
          <p:cNvSpPr txBox="1"/>
          <p:nvPr/>
        </p:nvSpPr>
        <p:spPr>
          <a:xfrm>
            <a:off x="769256" y="372239"/>
            <a:ext cx="10943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Step: 17</a:t>
            </a:r>
            <a:br>
              <a:rPr lang="en-US" sz="1400" dirty="0"/>
            </a:br>
            <a:r>
              <a:rPr lang="en-US" sz="1400" dirty="0"/>
              <a:t>This command creates a </a:t>
            </a:r>
            <a:r>
              <a:rPr lang="en-US" sz="1400" b="1" dirty="0"/>
              <a:t>Container</a:t>
            </a:r>
            <a:r>
              <a:rPr lang="en-US" sz="1400" dirty="0"/>
              <a:t> from the Image.</a:t>
            </a:r>
          </a:p>
          <a:p>
            <a:pPr>
              <a:buNone/>
            </a:pPr>
            <a:r>
              <a:rPr lang="en-US" sz="1400" b="1" dirty="0"/>
              <a:t>docker run -d -p 3000:3000 --name </a:t>
            </a:r>
            <a:r>
              <a:rPr lang="en-US" sz="1400" b="1" dirty="0" err="1"/>
              <a:t>sai</a:t>
            </a:r>
            <a:r>
              <a:rPr lang="en-US" sz="1400" b="1" dirty="0"/>
              <a:t>-container sai-packers:v1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docker run -d -p 3000:3000 --name </a:t>
            </a:r>
            <a:r>
              <a:rPr lang="en-US" sz="1400" dirty="0" err="1"/>
              <a:t>sai</a:t>
            </a:r>
            <a:r>
              <a:rPr lang="en-US" sz="1400" dirty="0"/>
              <a:t>-container sai-packers:v1 creates and starts a Docker container named </a:t>
            </a:r>
            <a:r>
              <a:rPr lang="en-US" sz="1400" dirty="0" err="1"/>
              <a:t>sai</a:t>
            </a:r>
            <a:r>
              <a:rPr lang="en-US" sz="1400" dirty="0"/>
              <a:t>-container from the sai-packers:v1 image, runs it in the background (-d), maps EC2 port 3000 to container port 3000 (-p 3000:3000), and makes the application accessible through port 3000.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DD9EC-F4C5-5082-BCBE-A1C24FA7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2425026"/>
            <a:ext cx="10943773" cy="1711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0A8CF-800A-D504-EA3F-6438BC70034D}"/>
              </a:ext>
            </a:extLst>
          </p:cNvPr>
          <p:cNvSpPr txBox="1"/>
          <p:nvPr/>
        </p:nvSpPr>
        <p:spPr>
          <a:xfrm>
            <a:off x="1863271" y="4287965"/>
            <a:ext cx="7643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Container ID is a unique identifier automatically assigned by Docker to every container</a:t>
            </a:r>
          </a:p>
        </p:txBody>
      </p:sp>
    </p:spTree>
    <p:extLst>
      <p:ext uri="{BB962C8B-B14F-4D97-AF65-F5344CB8AC3E}">
        <p14:creationId xmlns:p14="http://schemas.microsoft.com/office/powerpoint/2010/main" val="395620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054A4-A068-2DBB-D1A8-C371CAE5D19A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b="1" dirty="0"/>
              <a:t>Step: 18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effectLst/>
              </a:rPr>
              <a:t>docker </a:t>
            </a:r>
            <a:r>
              <a:rPr lang="en-US" sz="1100" dirty="0" err="1">
                <a:effectLst/>
              </a:rPr>
              <a:t>ps</a:t>
            </a:r>
            <a:r>
              <a:rPr lang="en-US" sz="1100" dirty="0"/>
              <a:t> displays all currently running Docker containers. </a:t>
            </a:r>
            <a:r>
              <a:rPr lang="en-US" sz="1100" b="1" dirty="0">
                <a:effectLst/>
              </a:rPr>
              <a:t>docker </a:t>
            </a:r>
            <a:r>
              <a:rPr lang="en-US" sz="1100" b="1" dirty="0" err="1">
                <a:effectLst/>
              </a:rPr>
              <a:t>ps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5E398-5360-9934-5FE5-77C3AC8C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11" y="2905630"/>
            <a:ext cx="10515595" cy="17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9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38E6A-5066-D1F9-7877-8E917B7AE188}"/>
              </a:ext>
            </a:extLst>
          </p:cNvPr>
          <p:cNvSpPr txBox="1"/>
          <p:nvPr/>
        </p:nvSpPr>
        <p:spPr>
          <a:xfrm>
            <a:off x="935613" y="487450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 19: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Able to access it from the browser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910C2-A08B-2FA2-0AAF-8F2A4D8C1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86" y="1545771"/>
            <a:ext cx="8294914" cy="475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D89A7-A6C6-9969-9D57-F7B22CD2C68B}"/>
              </a:ext>
            </a:extLst>
          </p:cNvPr>
          <p:cNvSpPr txBox="1"/>
          <p:nvPr/>
        </p:nvSpPr>
        <p:spPr>
          <a:xfrm>
            <a:off x="2285999" y="316024"/>
            <a:ext cx="832394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20 </a:t>
            </a:r>
            <a:br>
              <a:rPr lang="en-US" sz="1400" dirty="0"/>
            </a:br>
            <a:r>
              <a:rPr lang="en-US" sz="1400" dirty="0"/>
              <a:t>Push the image to ECR by running below commands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1. Authenticate Docker with Amazon ECR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 err="1"/>
              <a:t>aws</a:t>
            </a:r>
            <a:r>
              <a:rPr lang="en-US" sz="1400" b="1" dirty="0"/>
              <a:t> </a:t>
            </a:r>
            <a:r>
              <a:rPr lang="en-US" sz="1400" b="1" dirty="0" err="1"/>
              <a:t>ecr</a:t>
            </a:r>
            <a:r>
              <a:rPr lang="en-US" sz="1400" b="1" dirty="0"/>
              <a:t> get-login-password --region us-east-2 | docker login --username AWS --password-stdin </a:t>
            </a:r>
            <a:r>
              <a:rPr lang="en-US" sz="1400" b="1" u="sng" dirty="0">
                <a:effectLst/>
                <a:hlinkClick r:id="rId2"/>
              </a:rPr>
              <a:t>674113923535.dkr.ecr.us-east-2.amazonaws.com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2. Tag the Docker Image</a:t>
            </a:r>
            <a:br>
              <a:rPr lang="en-US" sz="1400" dirty="0"/>
            </a:br>
            <a:r>
              <a:rPr lang="en-US" sz="1400" b="1" dirty="0"/>
              <a:t>docker tag sai-packers:v1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3. Push the Docker Image to Amazon ECR</a:t>
            </a:r>
            <a:br>
              <a:rPr lang="en-US" sz="1400" dirty="0"/>
            </a:br>
            <a:r>
              <a:rPr lang="en-US" sz="1400" b="1" dirty="0"/>
              <a:t>docker push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924E-A42E-B831-C211-552A6055B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86" y="3403600"/>
            <a:ext cx="12192000" cy="273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70AC3-BC28-96C6-91ED-9FE6DADD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173112"/>
            <a:ext cx="12192000" cy="2770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1CFCA-1146-731A-5918-393F823EF9E8}"/>
              </a:ext>
            </a:extLst>
          </p:cNvPr>
          <p:cNvSpPr txBox="1"/>
          <p:nvPr/>
        </p:nvSpPr>
        <p:spPr>
          <a:xfrm>
            <a:off x="3556000" y="7188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21 </a:t>
            </a:r>
            <a:r>
              <a:rPr lang="en-US" sz="1400" dirty="0"/>
              <a:t>Verify in ECR</a:t>
            </a:r>
          </a:p>
        </p:txBody>
      </p:sp>
    </p:spTree>
    <p:extLst>
      <p:ext uri="{BB962C8B-B14F-4D97-AF65-F5344CB8AC3E}">
        <p14:creationId xmlns:p14="http://schemas.microsoft.com/office/powerpoint/2010/main" val="150053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798</Words>
  <Application>Microsoft Office PowerPoint</Application>
  <PresentationFormat>Widescreen</PresentationFormat>
  <Paragraphs>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Meiryo</vt:lpstr>
      <vt:lpstr>Aptos</vt:lpstr>
      <vt:lpstr>Aptos Display</vt:lpstr>
      <vt:lpstr>Arial</vt:lpstr>
      <vt:lpstr>Calibri</vt:lpstr>
      <vt:lpstr>Courier New</vt:lpstr>
      <vt:lpstr>Office Theme</vt:lpstr>
      <vt:lpstr>Sai Packers &amp; Movers End-to-End Docker Deployment on AWS EC2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Saikumar Royyapally (LTIMindtree Limited)</dc:creator>
  <cp:lastModifiedBy>Saikumar Royyapally (LTIMindtree Limited)</cp:lastModifiedBy>
  <cp:revision>2</cp:revision>
  <dcterms:created xsi:type="dcterms:W3CDTF">2026-07-30T13:53:22Z</dcterms:created>
  <dcterms:modified xsi:type="dcterms:W3CDTF">2026-07-31T10:50:26Z</dcterms:modified>
</cp:coreProperties>
</file>